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502920"/>
            <a:ext cx="10728655" cy="58064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97280" y="777240"/>
            <a:ext cx="4114800" cy="320040"/>
          </a:xfrm>
          <a:prstGeom prst="roundRect">
            <a:avLst/>
          </a:prstGeom>
          <a:solidFill>
            <a:srgbClr val="1E2943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DD4BF"/>
                </a:solidFill>
              </a:defRPr>
            </a:pPr>
            <a:r>
              <a:t>LAPORAN AKHIR PROJECT-BASED LEARNING (PBL)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EA5E9"/>
                </a:solidFill>
              </a:defRPr>
            </a:pPr>
            <a:r>
              <a:t>ApotekSim</a:t>
            </a:r>
          </a:p>
          <a:p>
            <a:pPr>
              <a:spcBef>
                <a:spcPts val="400"/>
              </a:spcBef>
              <a:defRPr sz="1500">
                <a:solidFill>
                  <a:srgbClr val="F8FAFC"/>
                </a:solidFill>
              </a:defRPr>
            </a:pPr>
            <a:r>
              <a:t>Sistem Informasi Apotek Berbasis Web Modern dengan Arsitektur Full-Stack &amp; Integrasi Supabase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777240"/>
            <a:ext cx="219456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UNITO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7181" y="914400"/>
            <a:ext cx="1839557" cy="1783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2514600"/>
            <a:ext cx="9601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94A3B8"/>
                </a:solidFill>
              </a:defRPr>
            </a:pPr>
            <a:r>
              <a:t>PROGRAM STUDI TEKNIK INFORMATIKA  •  FAKULTAS TEKNIK  •  UNIVERSITAS DR. SOETOMO SURABAYA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926080"/>
            <a:ext cx="999713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035808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DD4BF"/>
                </a:solidFill>
              </a:defRPr>
            </a:pPr>
            <a:r>
              <a:t>TIM PENGEMBANG (KELOMPOK 4):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429000"/>
            <a:ext cx="3145536" cy="246888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4253736"/>
            <a:ext cx="2779776" cy="1036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rPr dirty="0"/>
              <a:t>Fahri Adis Al Hafni</a:t>
            </a:r>
          </a:p>
          <a:p>
            <a:pPr>
              <a:spcBef>
                <a:spcPts val="400"/>
              </a:spcBef>
              <a:defRPr sz="1100">
                <a:solidFill>
                  <a:srgbClr val="0EA5E9"/>
                </a:solidFill>
              </a:defRPr>
            </a:pPr>
            <a:r>
              <a:rPr dirty="0"/>
              <a:t>NIM: 202511420105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br>
              <a:rPr dirty="0"/>
            </a:b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4517136" y="3429000"/>
            <a:ext cx="3145536" cy="2468880"/>
          </a:xfrm>
          <a:prstGeom prst="roundRect">
            <a:avLst/>
          </a:prstGeom>
          <a:solidFill>
            <a:srgbClr val="0B1324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00016" y="4260329"/>
            <a:ext cx="2779776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rPr dirty="0" err="1"/>
              <a:t>Sahrul</a:t>
            </a:r>
            <a:r>
              <a:rPr dirty="0"/>
              <a:t> </a:t>
            </a:r>
            <a:r>
              <a:rPr dirty="0" err="1"/>
              <a:t>Mubarok</a:t>
            </a:r>
            <a:endParaRPr dirty="0"/>
          </a:p>
          <a:p>
            <a:pPr>
              <a:spcBef>
                <a:spcPts val="400"/>
              </a:spcBef>
              <a:defRPr sz="1100">
                <a:solidFill>
                  <a:srgbClr val="0EA5E9"/>
                </a:solidFill>
              </a:defRPr>
            </a:pPr>
            <a:r>
              <a:rPr dirty="0"/>
              <a:t>NIM: 202511420107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7936992" y="3429000"/>
            <a:ext cx="3145536" cy="2468880"/>
          </a:xfrm>
          <a:prstGeom prst="roundRect">
            <a:avLst/>
          </a:prstGeom>
          <a:solidFill>
            <a:srgbClr val="0B1324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59191" y="4253736"/>
            <a:ext cx="2779776" cy="866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rPr dirty="0"/>
              <a:t>Ach Tohir</a:t>
            </a:r>
          </a:p>
          <a:p>
            <a:pPr>
              <a:spcBef>
                <a:spcPts val="400"/>
              </a:spcBef>
              <a:defRPr sz="1100">
                <a:solidFill>
                  <a:srgbClr val="0EA5E9"/>
                </a:solidFill>
              </a:defRPr>
            </a:pPr>
            <a:r>
              <a:rPr dirty="0"/>
              <a:t>NIM: 202511420048</a:t>
            </a:r>
          </a:p>
          <a:p>
            <a:pPr>
              <a:spcBef>
                <a:spcPts val="1200"/>
              </a:spcBef>
              <a:defRPr sz="1100">
                <a:solidFill>
                  <a:srgbClr val="94A3B8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ANALISIS OPERASIONAL &amp; RISET MASALAH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Problem Statement: Kelemahan Sistem Apotek Konvensional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2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🚨  Kerugian Finansial (Obat Expired)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Ketiadaan pencatatan berbasis batch &amp; kedaluwarsa berakibat penumpukan obat ED di gudang tanpa terdeteksi sejak dini. Obat tidak dapat diretur ke supplier.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3815" y="141732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22415" y="16002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📉  Human Error &amp; Selisih Stok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Pencatatan manual berbasis buku / spreadsheet lokal tidak terintegrasi dengan transaksi kasir harian, memicu selisih stok fisik di gudang secara berulang.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02336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⚖️  Risiko Kepatuhan Regulasi Medis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Penjualan obat keras / resep dokter tanpa pengawasan data Dokter &amp; No. SIP yang tervalidasi berpotensi sanksi administratif hingga pencabutan izin operasional.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3815" y="3840480"/>
            <a:ext cx="5166360" cy="21488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22415" y="402336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EA5E9"/>
                </a:solidFill>
              </a:defRPr>
            </a:pPr>
            <a:r>
              <a:t>🛡️  Kerentanan Arsitektur Legacy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Sistem monolitik tradisional lambat, sulit dikembangkan, dan rentan terhadap serangan manipulasi data dari sisi klien (client-side manipulation).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806440"/>
            <a:ext cx="10728655" cy="5486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34D399"/>
                </a:solidFill>
              </a:defRPr>
            </a:pPr>
            <a:r>
              <a:t>🎯 SOLUSI APOTEKSIM: Mengeliminasi Kerugian Kedaluwarsa, Menjamin Kecepatan Kasir &amp; Keamanan Data Cloud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SOLUSI TEKNOLOGI MODERN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Solusi Platform ApotekSim &amp; Full-Stack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3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411480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3749039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EA5E9"/>
                </a:solidFill>
              </a:defRPr>
            </a:pPr>
            <a:r>
              <a:t>💡 Konsep Solusi ApotekSim</a:t>
            </a:r>
          </a:p>
          <a:p>
            <a:pPr>
              <a:spcBef>
                <a:spcPts val="800"/>
              </a:spcBef>
              <a:defRPr sz="1150">
                <a:solidFill>
                  <a:srgbClr val="F8FAFC"/>
                </a:solidFill>
              </a:defRPr>
            </a:pPr>
            <a:r>
              <a:t>ApotekSim dirancang sebagai platform web manajemen apotek Cloud-Native yang responsif, mengutamakan validitas data transaksional &amp; rotasi obat terotomatisasi.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🔄 Antrean FEFO Otomatis: Pengeluaran stok mendahulukan batch ED terdekat.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⚡ Realtime WebSockets: Synchronous update stok ke seluruh layar kasir.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🔒 Row Level Security (RLS): Database locking hak akses peran (Admin/Kasir).</a:t>
            </a:r>
          </a:p>
          <a:p>
            <a:pPr>
              <a:spcBef>
                <a:spcPts val="1000"/>
              </a:spcBef>
              <a:defRPr sz="1050">
                <a:solidFill>
                  <a:srgbClr val="94A3B8"/>
                </a:solidFill>
              </a:defRPr>
            </a:pPr>
            <a:r>
              <a:t>🧾 Digital POS &amp; Skrining Resep: Form resep &amp; kalkulasi PPN instan (&lt;2 detik).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41732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0" y="160020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Next.js 14 &amp; React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Frontend Framework • [SSR / SSG]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Server-Side Rendering (SSR) &amp; App Router untuk performa render cepat &amp; SEO responsif.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88375" y="141732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71255" y="160020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TypeScript &amp; Tailwind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Language &amp; Styling • [Type-Safe]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Static type-safety mencegah runtime error &amp; styling modern berbasis Shadcn/ui.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402336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0" y="420624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Supabase &amp; PostgreSQL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Cloud BaaS &amp; Database • [Cloud BaaS]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PostgreSQL 15, ACID Compliance, Auth JWT, dan WebSockets Realtime Sync.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88375" y="4023360"/>
            <a:ext cx="3063240" cy="228600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71255" y="4206240"/>
            <a:ext cx="26974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Prisma / Drizzle ORM</a:t>
            </a:r>
          </a:p>
          <a:p>
            <a:pPr>
              <a:spcBef>
                <a:spcPts val="300"/>
              </a:spcBef>
              <a:defRPr sz="950" b="1">
                <a:solidFill>
                  <a:srgbClr val="2DD4BF"/>
                </a:solidFill>
              </a:defRPr>
            </a:pPr>
            <a:r>
              <a:t>Database Mapping • [Type-Safe DB]</a:t>
            </a:r>
          </a:p>
          <a:p>
            <a:pPr>
              <a:spcBef>
                <a:spcPts val="800"/>
              </a:spcBef>
              <a:defRPr sz="1050">
                <a:solidFill>
                  <a:srgbClr val="F8FAFC"/>
                </a:solidFill>
              </a:defRPr>
            </a:pPr>
            <a:r>
              <a:t>Type-safe database query builder &amp; migrasi terstruktur tanpa SQL Injection.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ARSITEKTUR DATA &amp; KEAMANAN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Skema Data Relasional &amp; Fitur Keamanan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4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27048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Supplier (Master)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ID_Supplier (PK), Nama_Supplier, No_Telepon, Alamat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Relasi 1:N ke Pembelian_Obat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70048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779776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Obat (Master Profil)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ID_Obat (PK), Nama_Obat, Kategori_Obat, Harga_Jual, Batas_Min, Stok_Total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Relasi 1:N ke Detail_Pembelian_Obat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22776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4032504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Pembelian_Obat (Restock)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ID_Pembelian (PK), No_Faktur, ID_Supplier (FK), Tanggal_Pembelian, Total_Pengeluaran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Dokumen Pengadaan Masuk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175504"/>
            <a:ext cx="5166360" cy="1115568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48006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EA5E9"/>
                </a:solidFill>
              </a:defRPr>
            </a:pPr>
            <a:r>
              <a:t>📁 Tabel Detail_Pembelian_Obat (Batch)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Kolom: ID_Detail (PK), ID_Pembelian (FK), ID_Obat (FK), Nomor_Batch, ED, Stok_Sisa</a:t>
            </a:r>
          </a:p>
          <a:p>
            <a:pPr>
              <a:defRPr sz="900">
                <a:solidFill>
                  <a:srgbClr val="94A3B8"/>
                </a:solidFill>
              </a:defRPr>
            </a:pPr>
            <a:r>
              <a:t>Fungsi: Acuan Utama Algoritma FEFO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91072" y="1417320"/>
            <a:ext cx="5166360" cy="23774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55448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0EA5E9"/>
                </a:solidFill>
              </a:defRPr>
            </a:pPr>
            <a:r>
              <a:t>🔄 Algoritma Antrean FEFO (First Expired, First Out)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1. Pengurutan Batch: Batch diurutkan berdasarkan E(b_1) &lt;= E(b_2) &lt;= ... &lt;= E(b_n).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2. Alokasi Stok Sekuensial: d_i = min(Q_sisa, q_i) memotong batch ED terdekat dahulu.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3. Validasi Atomic: Menolak transaksi jika total stok terkonsolidasi tidak cukup.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4. Mencegah Human Error: Kasir tidak perlu memilih batch manual di rak.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3931920"/>
            <a:ext cx="5166360" cy="23774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4069080"/>
            <a:ext cx="4754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4D399"/>
                </a:solidFill>
              </a:defRPr>
            </a:pPr>
            <a:r>
              <a:t>🛡️ Kebijakan Row Level Security (RLS) PostgreSQL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Proteksi Level Database: Kebijakan RLS memverifikasi token JWT pengguna.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Hak Akses Read (SELECT): Semua staf terautentikasi (Kasir/Admin) dapat membaca.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Hak Akses Mutasi (INSERT/UPDATE/DELETE): Dikunci khusus untuk role Admin.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</a:defRPr>
            </a:pPr>
            <a:r>
              <a:t>• Anti-Bypass Client: Kasir yang mencoba manipulasi harga via konsol JS melempar Status Error 403 Forbidden.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PERANCANGAN STRUKTUR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Diagram Konteks, DFD Level 0, dan ERD Basis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5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3328416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554480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0EA5E9"/>
                </a:solidFill>
              </a:defRPr>
            </a:pPr>
            <a:r>
              <a:t>Diagram Konteks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11680"/>
            <a:ext cx="2962656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iagram_konte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13243"/>
            <a:ext cx="2962656" cy="16887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394959"/>
            <a:ext cx="2962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F8FAFC"/>
                </a:solidFill>
              </a:defRPr>
            </a:pPr>
            <a:r>
              <a:t>Alur interaksi entitas Admin &amp; Kasir dengan ApotekSim.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417320"/>
            <a:ext cx="3328416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554480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0EA5E9"/>
                </a:solidFill>
              </a:defRPr>
            </a:pPr>
            <a:r>
              <a:t>DFD Level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08576" y="2011680"/>
            <a:ext cx="2962656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dfd_level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2813243"/>
            <a:ext cx="2962656" cy="168871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08576" y="5394959"/>
            <a:ext cx="2962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F8FAFC"/>
                </a:solidFill>
              </a:defRPr>
            </a:pPr>
            <a:r>
              <a:t>Proses pengadaan, stok batch, POS kasir &amp; laporan.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417320"/>
            <a:ext cx="3328416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2" y="1554480"/>
            <a:ext cx="3054096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0EA5E9"/>
                </a:solidFill>
              </a:defRPr>
            </a:pPr>
            <a:r>
              <a:t>ERD Basis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02752" y="2011680"/>
            <a:ext cx="2962656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02752" y="5394959"/>
            <a:ext cx="296265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>
                <a:solidFill>
                  <a:srgbClr val="F8FAFC"/>
                </a:solidFill>
              </a:defRPr>
            </a:pPr>
            <a:r>
              <a:t>Relasi 1:N Supplier, Obat, Pembelian &amp; Batch Detail.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49110D84-DE09-950A-7762-BB2061C4B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651" y="2770919"/>
            <a:ext cx="2928857" cy="1688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ANTARMUKA APLIKASI (DEMO PRODUK - BAGIAN 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Demonstrasi UI: Kasir POS &amp; Katalog Obat Reaktif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6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🛒 Antarmuka Kasir Digital (Point of Sales)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11680"/>
            <a:ext cx="4800600" cy="29260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ui_pos_kas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51718"/>
            <a:ext cx="4800600" cy="28460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Instant Search: Pencarian obat cepat &amp; filter kategori.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Keranjang Reaktif: Perhitungan subtotal, PPN 11% &amp; kembalian.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Skrining Resep: Form data Dokter &amp; SIP untuk obat keras.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6695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💊 Katalog Obat &amp; Status FEFO Real-Time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6695" y="2011680"/>
            <a:ext cx="4800600" cy="29260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ui_katalog_ob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695" y="2051718"/>
            <a:ext cx="4800600" cy="28460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6695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Visual Cards: Menampilkan gambar, kategori &amp; stok obat.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Indicator FEFO: Menampilkan sisa batch aktif &amp; ED terdekat.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Realtime Sync: Auto-update stok saat terjadi checkout.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ANTARMUKA APLIKASI (DEMO PRODUK - BAGIAN 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Demonstrasi UI: Dasbor Admin &amp; Pengadaan Restock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7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📊 Dasbor Executive &amp; Alert Low-Stock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011680"/>
            <a:ext cx="4800600" cy="29260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ui_dashboard_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051718"/>
            <a:ext cx="4800600" cy="284600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400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Ringkasan Omset: Grafik penjualan harian &amp; statistik total.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Alert Berkedip Merah: Peringatan otomatis obat stok minimum.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Quick Actions: Akses cepat ke tambah obat &amp; supplier.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3815" y="1417320"/>
            <a:ext cx="516636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6695" y="155448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1">
                <a:solidFill>
                  <a:srgbClr val="0EA5E9"/>
                </a:solidFill>
              </a:defRPr>
            </a:pPr>
            <a:r>
              <a:t>📦 Manajemen Restock &amp; Batch Expired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6695" y="2011680"/>
            <a:ext cx="4800600" cy="292608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ui_tabel_rest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695" y="2051718"/>
            <a:ext cx="4800600" cy="28460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6695" y="5029200"/>
            <a:ext cx="4800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Form Pengadaan: Pencatatan faktur masuk dari Supplier.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Multi-Batch Input: Input Nomor Batch, ED &amp; Harga Beli.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• Auto Consolidation: Memperbarui total stok obat otomatis.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DD4BF"/>
                </a:solidFill>
              </a:defRPr>
            </a:pPr>
            <a:r>
              <a:t>APOTEKSIM  |  PENGUJIAN &amp; PENUTUP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t>Matriks Pengujian UAT (Black-Box) &amp; Kesimpulan Utama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26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Universitas Dr. Soetomo Surabaya • Teknik Informatika • Kelompok 4 (2026)</a:t>
            </a:r>
          </a:p>
          <a:p>
            <a:pPr algn="r">
              <a:defRPr sz="900">
                <a:solidFill>
                  <a:srgbClr val="2DD4BF"/>
                </a:solidFill>
              </a:defRPr>
            </a:pPr>
            <a:r>
              <a:t>Slide 8 / 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17320"/>
            <a:ext cx="5943600" cy="4892040"/>
          </a:xfrm>
          <a:prstGeom prst="roundRect">
            <a:avLst/>
          </a:prstGeom>
          <a:solidFill>
            <a:srgbClr val="152238"/>
          </a:solidFill>
          <a:ln w="15240">
            <a:solidFill>
              <a:srgbClr val="26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557784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EA5E9"/>
                </a:solidFill>
              </a:defRPr>
            </a:pPr>
            <a:r>
              <a:t>🧪 Matriks Hasil Pengujian (Black-Box UAT)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TC-01 [Autentikasi &amp; RBAC]: Kasir dilarang ke Admin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TC-02 [Validasi Master Obat]: Harga &lt;= 0 ditolak sistem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TC-03 [Transaksi Kasir POS]: Struk &amp; stok terpotong &lt;2s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TC-04 [Skrining Resep Dokter]: Data Dokter/SIP wajib diisi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TC-05 [Otomatisasi Antrean FEFO]: Batch ED terdekat terpotong → PASSED 🟢</a:t>
            </a:r>
          </a:p>
          <a:p>
            <a:pPr>
              <a:spcBef>
                <a:spcPts val="600"/>
              </a:spcBef>
              <a:defRPr sz="1050">
                <a:solidFill>
                  <a:srgbClr val="F8FAFC"/>
                </a:solidFill>
              </a:defRPr>
            </a:pPr>
            <a:r>
              <a:t>• TC-06 [Notifikasi Low Stock]: Indikator merah saat stok min → PASSED 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88175" y="1417320"/>
            <a:ext cx="4572000" cy="4892040"/>
          </a:xfrm>
          <a:prstGeom prst="roundRect">
            <a:avLst/>
          </a:prstGeom>
          <a:solidFill>
            <a:srgbClr val="1E2943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86600" y="1600200"/>
            <a:ext cx="41605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4D399"/>
                </a:solidFill>
              </a:defRPr>
            </a:pPr>
            <a:r>
              <a:t>🏁 Kesimpulan Utama Proyek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🚀 Efisiensi Transaksi Kasir: Kecepatan transaksi POS &lt;2 detik menekan antrean fisik konsumen.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📦 Eliminasi Kerugian Expired: Metode FEFO terotomatisasi penuh menjamin rotasi obat yang aman.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🔒 Keamanan Cloud &amp; RLS: PostgreSQL RLS di Supabase terbukti andal mengunci akses dari manipulasi client.</a:t>
            </a:r>
          </a:p>
          <a:p>
            <a:pPr>
              <a:spcBef>
                <a:spcPts val="1000"/>
              </a:spcBef>
              <a:defRPr sz="1050">
                <a:solidFill>
                  <a:srgbClr val="F8FAFC"/>
                </a:solidFill>
              </a:defRPr>
            </a:pPr>
            <a:r>
              <a:t>📊 Data Real-Time: Integrasi WebSockets memastikan sinkronisasi stok instan antar browser kasir.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1307</Words>
  <Application>Microsoft Office PowerPoint</Application>
  <PresentationFormat>Widescreen</PresentationFormat>
  <Paragraphs>127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ROG-STRIX</dc:creator>
  <cp:keywords/>
  <dc:description>generated using python-pptx</dc:description>
  <cp:lastModifiedBy>Fahri Adis</cp:lastModifiedBy>
  <cp:revision>2</cp:revision>
  <dcterms:created xsi:type="dcterms:W3CDTF">2013-01-27T09:14:16Z</dcterms:created>
  <dcterms:modified xsi:type="dcterms:W3CDTF">2026-07-21T13:36:21Z</dcterms:modified>
  <cp:category/>
</cp:coreProperties>
</file>