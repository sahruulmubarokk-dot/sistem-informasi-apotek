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502920"/>
            <a:ext cx="10728655" cy="5806440"/>
          </a:xfrm>
          <a:prstGeom prst="roundRect">
            <a:avLst/>
          </a:prstGeom>
          <a:solidFill>
            <a:srgbClr val="152238"/>
          </a:solidFill>
          <a:ln w="15240">
            <a:solidFill>
              <a:srgbClr val="263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097280" y="777240"/>
            <a:ext cx="4114800" cy="320040"/>
          </a:xfrm>
          <a:prstGeom prst="roundRect">
            <a:avLst/>
          </a:prstGeom>
          <a:solidFill>
            <a:srgbClr val="1E2943"/>
          </a:solidFill>
          <a:ln w="12700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2DD4BF"/>
                </a:solidFill>
              </a:defRPr>
            </a:pPr>
            <a:r>
              <a:t>LAPORAN AKHIR PROJECT-BASED LEARNING (PBL)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1188720"/>
            <a:ext cx="73152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200" b="1">
                <a:solidFill>
                  <a:srgbClr val="0EA5E9"/>
                </a:solidFill>
              </a:defRPr>
            </a:pPr>
            <a:r>
              <a:t>ApotekSim</a:t>
            </a:r>
          </a:p>
          <a:p>
            <a:pPr>
              <a:spcBef>
                <a:spcPts val="400"/>
              </a:spcBef>
              <a:defRPr sz="1500">
                <a:solidFill>
                  <a:srgbClr val="F8FAFC"/>
                </a:solidFill>
              </a:defRPr>
            </a:pPr>
            <a:r>
              <a:t>Sistem Informasi Apotek Berbasis Web Modern dengan Arsitektur Full-Stack &amp; Integrasi Supabase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514600"/>
            <a:ext cx="9601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94A3B8"/>
                </a:solidFill>
              </a:defRPr>
            </a:pPr>
            <a:r>
              <a:t>PROGRAM STUDI TEKNIK INFORMATIKA  •  FAKULTAS TEKNIK  •  UNIVERSITAS DR. SOETOMO SURABAYA</a:t>
            </a:r>
          </a:p>
        </p:txBody>
      </p:sp>
      <p:sp>
        <p:nvSpPr>
          <p:cNvPr id="7" name="Rectangle 6"/>
          <p:cNvSpPr/>
          <p:nvPr/>
        </p:nvSpPr>
        <p:spPr>
          <a:xfrm>
            <a:off x="1097280" y="2926080"/>
            <a:ext cx="9997135" cy="18288"/>
          </a:xfrm>
          <a:prstGeom prst="rect">
            <a:avLst/>
          </a:prstGeom>
          <a:solidFill>
            <a:srgbClr val="26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3035808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2DD4BF"/>
                </a:solidFill>
              </a:defRPr>
            </a:pPr>
            <a:r>
              <a:t>TIM PENGEMBANG (KELOMPOK 4):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97280" y="3429000"/>
            <a:ext cx="3145536" cy="2468880"/>
          </a:xfrm>
          <a:prstGeom prst="roundRect">
            <a:avLst/>
          </a:prstGeom>
          <a:solidFill>
            <a:srgbClr val="1E2943"/>
          </a:solidFill>
          <a:ln w="15240"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3657600"/>
            <a:ext cx="2779776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F8FAFC"/>
                </a:solidFill>
              </a:defRPr>
            </a:pPr>
            <a:r>
              <a:t>Fahri Adis Al Hafni</a:t>
            </a:r>
          </a:p>
          <a:p>
            <a:pPr>
              <a:spcBef>
                <a:spcPts val="400"/>
              </a:spcBef>
              <a:defRPr sz="1100">
                <a:solidFill>
                  <a:srgbClr val="0EA5E9"/>
                </a:solidFill>
              </a:defRPr>
            </a:pPr>
            <a:r>
              <a:t>NIM: 202511420105</a:t>
            </a:r>
          </a:p>
          <a:p>
            <a:pPr>
              <a:spcBef>
                <a:spcPts val="1200"/>
              </a:spcBef>
              <a:defRPr sz="1100">
                <a:solidFill>
                  <a:srgbClr val="94A3B8"/>
                </a:solidFill>
              </a:defRPr>
            </a:pPr>
            <a:r>
              <a:t>Peran Utama:</a:t>
            </a:r>
            <a:br/>
            <a:r>
              <a:t>Fullstack Developer &amp; DB Designer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17136" y="3429000"/>
            <a:ext cx="3145536" cy="2468880"/>
          </a:xfrm>
          <a:prstGeom prst="roundRect">
            <a:avLst/>
          </a:prstGeom>
          <a:solidFill>
            <a:srgbClr val="0B1324"/>
          </a:solidFill>
          <a:ln w="15240">
            <a:solidFill>
              <a:srgbClr val="263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00016" y="3657600"/>
            <a:ext cx="2779776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F8FAFC"/>
                </a:solidFill>
              </a:defRPr>
            </a:pPr>
            <a:r>
              <a:t>Sahrul Mubarok</a:t>
            </a:r>
          </a:p>
          <a:p>
            <a:pPr>
              <a:spcBef>
                <a:spcPts val="400"/>
              </a:spcBef>
              <a:defRPr sz="1100">
                <a:solidFill>
                  <a:srgbClr val="0EA5E9"/>
                </a:solidFill>
              </a:defRPr>
            </a:pPr>
            <a:r>
              <a:t>NIM: 202511420107</a:t>
            </a:r>
          </a:p>
          <a:p>
            <a:pPr>
              <a:spcBef>
                <a:spcPts val="1200"/>
              </a:spcBef>
              <a:defRPr sz="1100">
                <a:solidFill>
                  <a:srgbClr val="94A3B8"/>
                </a:solidFill>
              </a:defRPr>
            </a:pPr>
            <a:r>
              <a:t>Peran Utama:</a:t>
            </a:r>
            <a:br/>
            <a:r>
              <a:t>Backend &amp; Cloud Infrastructure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36992" y="3429000"/>
            <a:ext cx="3145536" cy="2468880"/>
          </a:xfrm>
          <a:prstGeom prst="roundRect">
            <a:avLst/>
          </a:prstGeom>
          <a:solidFill>
            <a:srgbClr val="0B1324"/>
          </a:solidFill>
          <a:ln w="15240">
            <a:solidFill>
              <a:srgbClr val="263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19872" y="3657600"/>
            <a:ext cx="2779776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F8FAFC"/>
                </a:solidFill>
              </a:defRPr>
            </a:pPr>
            <a:r>
              <a:t>Ach Tohir</a:t>
            </a:r>
          </a:p>
          <a:p>
            <a:pPr>
              <a:spcBef>
                <a:spcPts val="400"/>
              </a:spcBef>
              <a:defRPr sz="1100">
                <a:solidFill>
                  <a:srgbClr val="0EA5E9"/>
                </a:solidFill>
              </a:defRPr>
            </a:pPr>
            <a:r>
              <a:t>NIM: 202511420048</a:t>
            </a:r>
          </a:p>
          <a:p>
            <a:pPr>
              <a:spcBef>
                <a:spcPts val="1200"/>
              </a:spcBef>
              <a:defRPr sz="1100">
                <a:solidFill>
                  <a:srgbClr val="94A3B8"/>
                </a:solidFill>
              </a:defRPr>
            </a:pPr>
            <a:r>
              <a:t>Peran Utama:</a:t>
            </a:r>
            <a:br/>
            <a:r>
              <a:t>Frontend UI/UX &amp; QA Tester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2DD4BF"/>
                </a:solidFill>
              </a:defRPr>
            </a:pPr>
            <a:r>
              <a:t>APOTEKSIM  |  ANALISIS OPERASIONAL &amp; RISET MASALAH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72865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100" b="1">
                <a:solidFill>
                  <a:srgbClr val="F8FAFC"/>
                </a:solidFill>
              </a:defRPr>
            </a:pPr>
            <a:r>
              <a:t>Problem Statement: Kelemahan Sistem Apotek Konvensional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34440"/>
            <a:ext cx="10728655" cy="18288"/>
          </a:xfrm>
          <a:prstGeom prst="rect">
            <a:avLst/>
          </a:prstGeom>
          <a:solidFill>
            <a:srgbClr val="26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492240"/>
            <a:ext cx="10728655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</a:defRPr>
            </a:pPr>
            <a:r>
              <a:t>Universitas Dr. Soetomo Surabaya • Teknik Informatika • Kelompok 4 (2026)</a:t>
            </a:r>
          </a:p>
          <a:p>
            <a:pPr algn="r">
              <a:defRPr sz="900">
                <a:solidFill>
                  <a:srgbClr val="2DD4BF"/>
                </a:solidFill>
              </a:defRPr>
            </a:pPr>
            <a:r>
              <a:t>Slide 2 / 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417320"/>
            <a:ext cx="5166360" cy="2148840"/>
          </a:xfrm>
          <a:prstGeom prst="roundRect">
            <a:avLst/>
          </a:prstGeom>
          <a:solidFill>
            <a:srgbClr val="152238"/>
          </a:solidFill>
          <a:ln w="15240">
            <a:solidFill>
              <a:srgbClr val="263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600200"/>
            <a:ext cx="470916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EA5E9"/>
                </a:solidFill>
              </a:defRPr>
            </a:pPr>
            <a:r>
              <a:t>🚨  Kerugian Finansial (Obat Expired)</a:t>
            </a:r>
          </a:p>
          <a:p>
            <a:pPr>
              <a:spcBef>
                <a:spcPts val="800"/>
              </a:spcBef>
              <a:defRPr sz="1150">
                <a:solidFill>
                  <a:srgbClr val="F8FAFC"/>
                </a:solidFill>
              </a:defRPr>
            </a:pPr>
            <a:r>
              <a:t>Ketiadaan pencatatan berbasis batch &amp; kedaluwarsa berakibat penumpukan obat ED di gudang tanpa terdeteksi sejak dini. Obat tidak dapat diretur ke supplier.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93815" y="1417320"/>
            <a:ext cx="5166360" cy="2148840"/>
          </a:xfrm>
          <a:prstGeom prst="roundRect">
            <a:avLst/>
          </a:prstGeom>
          <a:solidFill>
            <a:srgbClr val="152238"/>
          </a:solidFill>
          <a:ln w="15240">
            <a:solidFill>
              <a:srgbClr val="263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22415" y="1600200"/>
            <a:ext cx="470916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EA5E9"/>
                </a:solidFill>
              </a:defRPr>
            </a:pPr>
            <a:r>
              <a:t>📉  Human Error &amp; Selisih Stok</a:t>
            </a:r>
          </a:p>
          <a:p>
            <a:pPr>
              <a:spcBef>
                <a:spcPts val="800"/>
              </a:spcBef>
              <a:defRPr sz="1150">
                <a:solidFill>
                  <a:srgbClr val="F8FAFC"/>
                </a:solidFill>
              </a:defRPr>
            </a:pPr>
            <a:r>
              <a:t>Pencatatan manual berbasis buku / spreadsheet lokal tidak terintegrasi dengan transaksi kasir harian, memicu selisih stok fisik di gudang secara berulang.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840480"/>
            <a:ext cx="5166360" cy="2148840"/>
          </a:xfrm>
          <a:prstGeom prst="roundRect">
            <a:avLst/>
          </a:prstGeom>
          <a:solidFill>
            <a:srgbClr val="152238"/>
          </a:solidFill>
          <a:ln w="15240">
            <a:solidFill>
              <a:srgbClr val="263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4023360"/>
            <a:ext cx="470916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EA5E9"/>
                </a:solidFill>
              </a:defRPr>
            </a:pPr>
            <a:r>
              <a:t>⚖️  Risiko Kepatuhan Regulasi Medis</a:t>
            </a:r>
          </a:p>
          <a:p>
            <a:pPr>
              <a:spcBef>
                <a:spcPts val="800"/>
              </a:spcBef>
              <a:defRPr sz="1150">
                <a:solidFill>
                  <a:srgbClr val="F8FAFC"/>
                </a:solidFill>
              </a:defRPr>
            </a:pPr>
            <a:r>
              <a:t>Penjualan obat keras / resep dokter tanpa pengawasan data Dokter &amp; No. SIP yang tervalidasi berpotensi sanksi administratif hingga pencabutan izin operasional.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93815" y="3840480"/>
            <a:ext cx="5166360" cy="2148840"/>
          </a:xfrm>
          <a:prstGeom prst="roundRect">
            <a:avLst/>
          </a:prstGeom>
          <a:solidFill>
            <a:srgbClr val="152238"/>
          </a:solidFill>
          <a:ln w="15240">
            <a:solidFill>
              <a:srgbClr val="263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22415" y="4023360"/>
            <a:ext cx="470916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EA5E9"/>
                </a:solidFill>
              </a:defRPr>
            </a:pPr>
            <a:r>
              <a:t>🛡️  Kerentanan Arsitektur Legacy</a:t>
            </a:r>
          </a:p>
          <a:p>
            <a:pPr>
              <a:spcBef>
                <a:spcPts val="800"/>
              </a:spcBef>
              <a:defRPr sz="1150">
                <a:solidFill>
                  <a:srgbClr val="F8FAFC"/>
                </a:solidFill>
              </a:defRPr>
            </a:pPr>
            <a:r>
              <a:t>Sistem monolitik tradisional lambat, sulit dikembangkan, dan rentan terhadap serangan manipulasi data dari sisi klien (client-side manipulation).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5806440"/>
            <a:ext cx="10728655" cy="548640"/>
          </a:xfrm>
          <a:prstGeom prst="roundRect">
            <a:avLst/>
          </a:prstGeom>
          <a:solidFill>
            <a:srgbClr val="1E2943"/>
          </a:solidFill>
          <a:ln w="15240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585216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50" b="1">
                <a:solidFill>
                  <a:srgbClr val="34D399"/>
                </a:solidFill>
              </a:defRPr>
            </a:pPr>
            <a:r>
              <a:t>🎯 SOLUSI APOTEKSIM: Mengeliminasi Kerugian Kedaluwarsa, Menjamin Kecepatan Kasir &amp; Keamanan Data Cloud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2DD4BF"/>
                </a:solidFill>
              </a:defRPr>
            </a:pPr>
            <a:r>
              <a:t>APOTEKSIM  |  SOLUSI TEKNOLOGI MODERN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72865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100" b="1">
                <a:solidFill>
                  <a:srgbClr val="F8FAFC"/>
                </a:solidFill>
              </a:defRPr>
            </a:pPr>
            <a:r>
              <a:t>Solusi Platform ApotekSim &amp; Full-Stack Tech Stack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34440"/>
            <a:ext cx="10728655" cy="18288"/>
          </a:xfrm>
          <a:prstGeom prst="rect">
            <a:avLst/>
          </a:prstGeom>
          <a:solidFill>
            <a:srgbClr val="26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492240"/>
            <a:ext cx="10728655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</a:defRPr>
            </a:pPr>
            <a:r>
              <a:t>Universitas Dr. Soetomo Surabaya • Teknik Informatika • Kelompok 4 (2026)</a:t>
            </a:r>
          </a:p>
          <a:p>
            <a:pPr algn="r">
              <a:defRPr sz="900">
                <a:solidFill>
                  <a:srgbClr val="2DD4BF"/>
                </a:solidFill>
              </a:defRPr>
            </a:pPr>
            <a:r>
              <a:t>Slide 3 / 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417320"/>
            <a:ext cx="4114800" cy="4892040"/>
          </a:xfrm>
          <a:prstGeom prst="roundRect">
            <a:avLst/>
          </a:prstGeom>
          <a:solidFill>
            <a:srgbClr val="152238"/>
          </a:solidFill>
          <a:ln w="15240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600200"/>
            <a:ext cx="3749039" cy="4526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0EA5E9"/>
                </a:solidFill>
              </a:defRPr>
            </a:pPr>
            <a:r>
              <a:t>💡 Konsep Solusi ApotekSim</a:t>
            </a:r>
          </a:p>
          <a:p>
            <a:pPr>
              <a:spcBef>
                <a:spcPts val="800"/>
              </a:spcBef>
              <a:defRPr sz="1150">
                <a:solidFill>
                  <a:srgbClr val="F8FAFC"/>
                </a:solidFill>
              </a:defRPr>
            </a:pPr>
            <a:r>
              <a:t>ApotekSim dirancang sebagai platform web manajemen apotek Cloud-Native yang responsif, mengutamakan validitas data transaksional &amp; rotasi obat terotomatisasi.</a:t>
            </a:r>
          </a:p>
          <a:p>
            <a:pPr>
              <a:spcBef>
                <a:spcPts val="1000"/>
              </a:spcBef>
              <a:defRPr sz="1050">
                <a:solidFill>
                  <a:srgbClr val="94A3B8"/>
                </a:solidFill>
              </a:defRPr>
            </a:pPr>
            <a:r>
              <a:t>🔄 Antrean FEFO Otomatis: Pengeluaran stok mendahulukan batch ED terdekat.</a:t>
            </a:r>
          </a:p>
          <a:p>
            <a:pPr>
              <a:spcBef>
                <a:spcPts val="1000"/>
              </a:spcBef>
              <a:defRPr sz="1050">
                <a:solidFill>
                  <a:srgbClr val="94A3B8"/>
                </a:solidFill>
              </a:defRPr>
            </a:pPr>
            <a:r>
              <a:t>⚡ Realtime WebSockets: Synchronous update stok ke seluruh layar kasir.</a:t>
            </a:r>
          </a:p>
          <a:p>
            <a:pPr>
              <a:spcBef>
                <a:spcPts val="1000"/>
              </a:spcBef>
              <a:defRPr sz="1050">
                <a:solidFill>
                  <a:srgbClr val="94A3B8"/>
                </a:solidFill>
              </a:defRPr>
            </a:pPr>
            <a:r>
              <a:t>🔒 Row Level Security (RLS): Database locking hak akses peran (Admin/Kasir).</a:t>
            </a:r>
          </a:p>
          <a:p>
            <a:pPr>
              <a:spcBef>
                <a:spcPts val="1000"/>
              </a:spcBef>
              <a:defRPr sz="1050">
                <a:solidFill>
                  <a:srgbClr val="94A3B8"/>
                </a:solidFill>
              </a:defRPr>
            </a:pPr>
            <a:r>
              <a:t>🧾 Digital POS &amp; Skrining Resep: Form resep &amp; kalkulasi PPN instan (&lt;2 detik).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120640" y="1417320"/>
            <a:ext cx="3063240" cy="2286000"/>
          </a:xfrm>
          <a:prstGeom prst="roundRect">
            <a:avLst/>
          </a:prstGeom>
          <a:solidFill>
            <a:srgbClr val="1E2943"/>
          </a:solidFill>
          <a:ln w="15240">
            <a:solidFill>
              <a:srgbClr val="263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03520" y="1600200"/>
            <a:ext cx="269748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EA5E9"/>
                </a:solidFill>
              </a:defRPr>
            </a:pPr>
            <a:r>
              <a:t>Next.js 14 &amp; React</a:t>
            </a:r>
          </a:p>
          <a:p>
            <a:pPr>
              <a:spcBef>
                <a:spcPts val="300"/>
              </a:spcBef>
              <a:defRPr sz="950" b="1">
                <a:solidFill>
                  <a:srgbClr val="2DD4BF"/>
                </a:solidFill>
              </a:defRPr>
            </a:pPr>
            <a:r>
              <a:t>Frontend Framework • [SSR / SSG]</a:t>
            </a:r>
          </a:p>
          <a:p>
            <a:pPr>
              <a:spcBef>
                <a:spcPts val="800"/>
              </a:spcBef>
              <a:defRPr sz="1050">
                <a:solidFill>
                  <a:srgbClr val="F8FAFC"/>
                </a:solidFill>
              </a:defRPr>
            </a:pPr>
            <a:r>
              <a:t>Server-Side Rendering (SSR) &amp; App Router untuk performa render cepat &amp; SEO responsif.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488375" y="1417320"/>
            <a:ext cx="3063240" cy="2286000"/>
          </a:xfrm>
          <a:prstGeom prst="roundRect">
            <a:avLst/>
          </a:prstGeom>
          <a:solidFill>
            <a:srgbClr val="1E2943"/>
          </a:solidFill>
          <a:ln w="15240">
            <a:solidFill>
              <a:srgbClr val="263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71255" y="1600200"/>
            <a:ext cx="269748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EA5E9"/>
                </a:solidFill>
              </a:defRPr>
            </a:pPr>
            <a:r>
              <a:t>TypeScript &amp; Tailwind</a:t>
            </a:r>
          </a:p>
          <a:p>
            <a:pPr>
              <a:spcBef>
                <a:spcPts val="300"/>
              </a:spcBef>
              <a:defRPr sz="950" b="1">
                <a:solidFill>
                  <a:srgbClr val="2DD4BF"/>
                </a:solidFill>
              </a:defRPr>
            </a:pPr>
            <a:r>
              <a:t>Language &amp; Styling • [Type-Safe]</a:t>
            </a:r>
          </a:p>
          <a:p>
            <a:pPr>
              <a:spcBef>
                <a:spcPts val="800"/>
              </a:spcBef>
              <a:defRPr sz="1050">
                <a:solidFill>
                  <a:srgbClr val="F8FAFC"/>
                </a:solidFill>
              </a:defRPr>
            </a:pPr>
            <a:r>
              <a:t>Static type-safety mencegah runtime error &amp; styling modern berbasis Shadcn/ui.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120640" y="4023360"/>
            <a:ext cx="3063240" cy="2286000"/>
          </a:xfrm>
          <a:prstGeom prst="roundRect">
            <a:avLst/>
          </a:prstGeom>
          <a:solidFill>
            <a:srgbClr val="1E2943"/>
          </a:solidFill>
          <a:ln w="15240">
            <a:solidFill>
              <a:srgbClr val="263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03520" y="4206240"/>
            <a:ext cx="269748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EA5E9"/>
                </a:solidFill>
              </a:defRPr>
            </a:pPr>
            <a:r>
              <a:t>Supabase &amp; PostgreSQL</a:t>
            </a:r>
          </a:p>
          <a:p>
            <a:pPr>
              <a:spcBef>
                <a:spcPts val="300"/>
              </a:spcBef>
              <a:defRPr sz="950" b="1">
                <a:solidFill>
                  <a:srgbClr val="2DD4BF"/>
                </a:solidFill>
              </a:defRPr>
            </a:pPr>
            <a:r>
              <a:t>Cloud BaaS &amp; Database • [Cloud BaaS]</a:t>
            </a:r>
          </a:p>
          <a:p>
            <a:pPr>
              <a:spcBef>
                <a:spcPts val="800"/>
              </a:spcBef>
              <a:defRPr sz="1050">
                <a:solidFill>
                  <a:srgbClr val="F8FAFC"/>
                </a:solidFill>
              </a:defRPr>
            </a:pPr>
            <a:r>
              <a:t>PostgreSQL 15, ACID Compliance, Auth JWT, dan WebSockets Realtime Sync.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488375" y="4023360"/>
            <a:ext cx="3063240" cy="2286000"/>
          </a:xfrm>
          <a:prstGeom prst="roundRect">
            <a:avLst/>
          </a:prstGeom>
          <a:solidFill>
            <a:srgbClr val="1E2943"/>
          </a:solidFill>
          <a:ln w="15240">
            <a:solidFill>
              <a:srgbClr val="263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71255" y="4206240"/>
            <a:ext cx="269748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EA5E9"/>
                </a:solidFill>
              </a:defRPr>
            </a:pPr>
            <a:r>
              <a:t>Prisma / Drizzle ORM</a:t>
            </a:r>
          </a:p>
          <a:p>
            <a:pPr>
              <a:spcBef>
                <a:spcPts val="300"/>
              </a:spcBef>
              <a:defRPr sz="950" b="1">
                <a:solidFill>
                  <a:srgbClr val="2DD4BF"/>
                </a:solidFill>
              </a:defRPr>
            </a:pPr>
            <a:r>
              <a:t>Database Mapping • [Type-Safe DB]</a:t>
            </a:r>
          </a:p>
          <a:p>
            <a:pPr>
              <a:spcBef>
                <a:spcPts val="800"/>
              </a:spcBef>
              <a:defRPr sz="1050">
                <a:solidFill>
                  <a:srgbClr val="F8FAFC"/>
                </a:solidFill>
              </a:defRPr>
            </a:pPr>
            <a:r>
              <a:t>Type-safe database query builder &amp; migrasi terstruktur tanpa SQL Injection.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2DD4BF"/>
                </a:solidFill>
              </a:defRPr>
            </a:pPr>
            <a:r>
              <a:t>APOTEKSIM  |  ARSITEKTUR DATA &amp; KEAMANAN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72865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100" b="1">
                <a:solidFill>
                  <a:srgbClr val="F8FAFC"/>
                </a:solidFill>
              </a:defRPr>
            </a:pPr>
            <a:r>
              <a:t>Skema Data Relasional &amp; Fitur Keamanan Database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34440"/>
            <a:ext cx="10728655" cy="18288"/>
          </a:xfrm>
          <a:prstGeom prst="rect">
            <a:avLst/>
          </a:prstGeom>
          <a:solidFill>
            <a:srgbClr val="26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492240"/>
            <a:ext cx="10728655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</a:defRPr>
            </a:pPr>
            <a:r>
              <a:t>Universitas Dr. Soetomo Surabaya • Teknik Informatika • Kelompok 4 (2026)</a:t>
            </a:r>
          </a:p>
          <a:p>
            <a:pPr algn="r">
              <a:defRPr sz="900">
                <a:solidFill>
                  <a:srgbClr val="2DD4BF"/>
                </a:solidFill>
              </a:defRPr>
            </a:pPr>
            <a:r>
              <a:t>Slide 4 / 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417320"/>
            <a:ext cx="5166360" cy="1115568"/>
          </a:xfrm>
          <a:prstGeom prst="roundRect">
            <a:avLst/>
          </a:prstGeom>
          <a:solidFill>
            <a:srgbClr val="152238"/>
          </a:solidFill>
          <a:ln w="15240">
            <a:solidFill>
              <a:srgbClr val="263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527048"/>
            <a:ext cx="4800600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EA5E9"/>
                </a:solidFill>
              </a:defRPr>
            </a:pPr>
            <a:r>
              <a:t>📁 Tabel Supplier (Master)</a:t>
            </a:r>
          </a:p>
          <a:p>
            <a:pPr>
              <a:defRPr sz="1000">
                <a:solidFill>
                  <a:srgbClr val="F8FAFC"/>
                </a:solidFill>
              </a:defRPr>
            </a:pPr>
            <a:r>
              <a:t>Kolom: ID_Supplier (PK), Nama_Supplier, No_Telepon, Alamat</a:t>
            </a:r>
          </a:p>
          <a:p>
            <a:pPr>
              <a:defRPr sz="900">
                <a:solidFill>
                  <a:srgbClr val="94A3B8"/>
                </a:solidFill>
              </a:defRPr>
            </a:pPr>
            <a:r>
              <a:t>Fungsi: Relasi 1:N ke Pembelian_Obat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670048"/>
            <a:ext cx="5166360" cy="1115568"/>
          </a:xfrm>
          <a:prstGeom prst="roundRect">
            <a:avLst/>
          </a:prstGeom>
          <a:solidFill>
            <a:srgbClr val="152238"/>
          </a:solidFill>
          <a:ln w="15240">
            <a:solidFill>
              <a:srgbClr val="263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779776"/>
            <a:ext cx="4800600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EA5E9"/>
                </a:solidFill>
              </a:defRPr>
            </a:pPr>
            <a:r>
              <a:t>📁 Tabel Obat (Master Profil)</a:t>
            </a:r>
          </a:p>
          <a:p>
            <a:pPr>
              <a:defRPr sz="1000">
                <a:solidFill>
                  <a:srgbClr val="F8FAFC"/>
                </a:solidFill>
              </a:defRPr>
            </a:pPr>
            <a:r>
              <a:t>Kolom: ID_Obat (PK), Nama_Obat, Kategori_Obat, Harga_Jual, Batas_Min, Stok_Total</a:t>
            </a:r>
          </a:p>
          <a:p>
            <a:pPr>
              <a:defRPr sz="900">
                <a:solidFill>
                  <a:srgbClr val="94A3B8"/>
                </a:solidFill>
              </a:defRPr>
            </a:pPr>
            <a:r>
              <a:t>Fungsi: Relasi 1:N ke Detail_Pembelian_Obat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922776"/>
            <a:ext cx="5166360" cy="1115568"/>
          </a:xfrm>
          <a:prstGeom prst="roundRect">
            <a:avLst/>
          </a:prstGeom>
          <a:solidFill>
            <a:srgbClr val="152238"/>
          </a:solidFill>
          <a:ln w="15240">
            <a:solidFill>
              <a:srgbClr val="263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4032504"/>
            <a:ext cx="4800600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EA5E9"/>
                </a:solidFill>
              </a:defRPr>
            </a:pPr>
            <a:r>
              <a:t>📁 Tabel Pembelian_Obat (Restock)</a:t>
            </a:r>
          </a:p>
          <a:p>
            <a:pPr>
              <a:defRPr sz="1000">
                <a:solidFill>
                  <a:srgbClr val="F8FAFC"/>
                </a:solidFill>
              </a:defRPr>
            </a:pPr>
            <a:r>
              <a:t>Kolom: ID_Pembelian (PK), No_Faktur, ID_Supplier (FK), Tanggal_Pembelian, Total_Pengeluaran</a:t>
            </a:r>
          </a:p>
          <a:p>
            <a:pPr>
              <a:defRPr sz="900">
                <a:solidFill>
                  <a:srgbClr val="94A3B8"/>
                </a:solidFill>
              </a:defRPr>
            </a:pPr>
            <a:r>
              <a:t>Fungsi: Dokumen Pengadaan Masuk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5175504"/>
            <a:ext cx="5166360" cy="1115568"/>
          </a:xfrm>
          <a:prstGeom prst="roundRect">
            <a:avLst/>
          </a:prstGeom>
          <a:solidFill>
            <a:srgbClr val="152238"/>
          </a:solidFill>
          <a:ln w="15240">
            <a:solidFill>
              <a:srgbClr val="263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5285232"/>
            <a:ext cx="4800600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EA5E9"/>
                </a:solidFill>
              </a:defRPr>
            </a:pPr>
            <a:r>
              <a:t>📁 Tabel Detail_Pembelian_Obat (Batch)</a:t>
            </a:r>
          </a:p>
          <a:p>
            <a:pPr>
              <a:defRPr sz="1000">
                <a:solidFill>
                  <a:srgbClr val="F8FAFC"/>
                </a:solidFill>
              </a:defRPr>
            </a:pPr>
            <a:r>
              <a:t>Kolom: ID_Detail (PK), ID_Pembelian (FK), ID_Obat (FK), Nomor_Batch, ED, Stok_Sisa</a:t>
            </a:r>
          </a:p>
          <a:p>
            <a:pPr>
              <a:defRPr sz="900">
                <a:solidFill>
                  <a:srgbClr val="94A3B8"/>
                </a:solidFill>
              </a:defRPr>
            </a:pPr>
            <a:r>
              <a:t>Fungsi: Acuan Utama Algoritma FEFO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91072" y="1417320"/>
            <a:ext cx="5166360" cy="2377440"/>
          </a:xfrm>
          <a:prstGeom prst="roundRect">
            <a:avLst/>
          </a:prstGeom>
          <a:solidFill>
            <a:srgbClr val="1E2943"/>
          </a:solidFill>
          <a:ln w="15240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2240" y="1554480"/>
            <a:ext cx="475488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50" b="1">
                <a:solidFill>
                  <a:srgbClr val="0EA5E9"/>
                </a:solidFill>
              </a:defRPr>
            </a:pPr>
            <a:r>
              <a:t>🔄 Algoritma Antrean FEFO (First Expired, First Out)</a:t>
            </a:r>
          </a:p>
          <a:p>
            <a:pPr>
              <a:spcBef>
                <a:spcPts val="400"/>
              </a:spcBef>
              <a:defRPr sz="1000">
                <a:solidFill>
                  <a:srgbClr val="F8FAFC"/>
                </a:solidFill>
              </a:defRPr>
            </a:pPr>
            <a:r>
              <a:t>1. Pengurutan Batch: Batch diurutkan berdasarkan E(b_1) &lt;= E(b_2) &lt;= ... &lt;= E(b_n).</a:t>
            </a:r>
          </a:p>
          <a:p>
            <a:pPr>
              <a:spcBef>
                <a:spcPts val="400"/>
              </a:spcBef>
              <a:defRPr sz="1000">
                <a:solidFill>
                  <a:srgbClr val="F8FAFC"/>
                </a:solidFill>
              </a:defRPr>
            </a:pPr>
            <a:r>
              <a:t>2. Alokasi Stok Sekuensial: d_i = min(Q_sisa, q_i) memotong batch ED terdekat dahulu.</a:t>
            </a:r>
          </a:p>
          <a:p>
            <a:pPr>
              <a:spcBef>
                <a:spcPts val="400"/>
              </a:spcBef>
              <a:defRPr sz="1000">
                <a:solidFill>
                  <a:srgbClr val="F8FAFC"/>
                </a:solidFill>
              </a:defRPr>
            </a:pPr>
            <a:r>
              <a:t>3. Validasi Atomic: Menolak transaksi jika total stok terkonsolidasi tidak cukup.</a:t>
            </a:r>
          </a:p>
          <a:p>
            <a:pPr>
              <a:spcBef>
                <a:spcPts val="400"/>
              </a:spcBef>
              <a:defRPr sz="1000">
                <a:solidFill>
                  <a:srgbClr val="F8FAFC"/>
                </a:solidFill>
              </a:defRPr>
            </a:pPr>
            <a:r>
              <a:t>4. Mencegah Human Error: Kasir tidak perlu memilih batch manual di rak.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91072" y="3931920"/>
            <a:ext cx="5166360" cy="2377440"/>
          </a:xfrm>
          <a:prstGeom prst="roundRect">
            <a:avLst/>
          </a:prstGeom>
          <a:solidFill>
            <a:srgbClr val="1E2943"/>
          </a:solidFill>
          <a:ln w="1524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0" y="4069080"/>
            <a:ext cx="475488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50" b="1">
                <a:solidFill>
                  <a:srgbClr val="34D399"/>
                </a:solidFill>
              </a:defRPr>
            </a:pPr>
            <a:r>
              <a:t>🛡️ Kebijakan Row Level Security (RLS) PostgreSQL</a:t>
            </a:r>
          </a:p>
          <a:p>
            <a:pPr>
              <a:spcBef>
                <a:spcPts val="400"/>
              </a:spcBef>
              <a:defRPr sz="1000">
                <a:solidFill>
                  <a:srgbClr val="F8FAFC"/>
                </a:solidFill>
              </a:defRPr>
            </a:pPr>
            <a:r>
              <a:t>• Proteksi Level Database: Kebijakan RLS memverifikasi token JWT pengguna.</a:t>
            </a:r>
          </a:p>
          <a:p>
            <a:pPr>
              <a:spcBef>
                <a:spcPts val="400"/>
              </a:spcBef>
              <a:defRPr sz="1000">
                <a:solidFill>
                  <a:srgbClr val="F8FAFC"/>
                </a:solidFill>
              </a:defRPr>
            </a:pPr>
            <a:r>
              <a:t>• Hak Akses Read (SELECT): Semua staf terautentikasi (Kasir/Admin) dapat membaca.</a:t>
            </a:r>
          </a:p>
          <a:p>
            <a:pPr>
              <a:spcBef>
                <a:spcPts val="400"/>
              </a:spcBef>
              <a:defRPr sz="1000">
                <a:solidFill>
                  <a:srgbClr val="F8FAFC"/>
                </a:solidFill>
              </a:defRPr>
            </a:pPr>
            <a:r>
              <a:t>• Hak Akses Mutasi (INSERT/UPDATE/DELETE): Dikunci khusus untuk role Admin.</a:t>
            </a:r>
          </a:p>
          <a:p>
            <a:pPr>
              <a:spcBef>
                <a:spcPts val="400"/>
              </a:spcBef>
              <a:defRPr sz="1000">
                <a:solidFill>
                  <a:srgbClr val="F8FAFC"/>
                </a:solidFill>
              </a:defRPr>
            </a:pPr>
            <a:r>
              <a:t>• Anti-Bypass Client: Kasir yang mencoba manipulasi harga via konsol JS melempar Status Error 403 Forbidden.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2DD4BF"/>
                </a:solidFill>
              </a:defRPr>
            </a:pPr>
            <a:r>
              <a:t>APOTEKSIM  |  PERANCANGAN STRUKTUR SISTEM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72865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100" b="1">
                <a:solidFill>
                  <a:srgbClr val="F8FAFC"/>
                </a:solidFill>
              </a:defRPr>
            </a:pPr>
            <a:r>
              <a:t>Diagram Konteks, DFD Level 0, dan ERD Basis Data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34440"/>
            <a:ext cx="10728655" cy="18288"/>
          </a:xfrm>
          <a:prstGeom prst="rect">
            <a:avLst/>
          </a:prstGeom>
          <a:solidFill>
            <a:srgbClr val="26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492240"/>
            <a:ext cx="10728655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</a:defRPr>
            </a:pPr>
            <a:r>
              <a:t>Universitas Dr. Soetomo Surabaya • Teknik Informatika • Kelompok 4 (2026)</a:t>
            </a:r>
          </a:p>
          <a:p>
            <a:pPr algn="r">
              <a:defRPr sz="900">
                <a:solidFill>
                  <a:srgbClr val="2DD4BF"/>
                </a:solidFill>
              </a:defRPr>
            </a:pPr>
            <a:r>
              <a:t>Slide 5 / 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417320"/>
            <a:ext cx="3328416" cy="4892040"/>
          </a:xfrm>
          <a:prstGeom prst="roundRect">
            <a:avLst/>
          </a:prstGeom>
          <a:solidFill>
            <a:srgbClr val="152238"/>
          </a:solidFill>
          <a:ln w="15240">
            <a:solidFill>
              <a:srgbClr val="263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554480"/>
            <a:ext cx="3054096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50" b="1">
                <a:solidFill>
                  <a:srgbClr val="0EA5E9"/>
                </a:solidFill>
              </a:defRPr>
            </a:pPr>
            <a:r>
              <a:t>Diagram Konteks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2011680"/>
            <a:ext cx="2962656" cy="32918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diagram_kontek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2813243"/>
            <a:ext cx="2962656" cy="1688713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14400" y="5394959"/>
            <a:ext cx="2962656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50">
                <a:solidFill>
                  <a:srgbClr val="F8FAFC"/>
                </a:solidFill>
              </a:defRPr>
            </a:pPr>
            <a:r>
              <a:t>Alur interaksi entitas Admin &amp; Kasir dengan ApotekSim.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25696" y="1417320"/>
            <a:ext cx="3328416" cy="4892040"/>
          </a:xfrm>
          <a:prstGeom prst="roundRect">
            <a:avLst/>
          </a:prstGeom>
          <a:solidFill>
            <a:srgbClr val="152238"/>
          </a:solidFill>
          <a:ln w="15240">
            <a:solidFill>
              <a:srgbClr val="263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62856" y="1554480"/>
            <a:ext cx="3054096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50" b="1">
                <a:solidFill>
                  <a:srgbClr val="0EA5E9"/>
                </a:solidFill>
              </a:defRPr>
            </a:pPr>
            <a:r>
              <a:t>DFD Level 0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608576" y="2011680"/>
            <a:ext cx="2962656" cy="32918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dfd_level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08576" y="2813243"/>
            <a:ext cx="2962656" cy="1688713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608576" y="5394959"/>
            <a:ext cx="2962656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50">
                <a:solidFill>
                  <a:srgbClr val="F8FAFC"/>
                </a:solidFill>
              </a:defRPr>
            </a:pPr>
            <a:r>
              <a:t>Proses pengadaan, stok batch, POS kasir &amp; laporan.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19872" y="1417320"/>
            <a:ext cx="3328416" cy="4892040"/>
          </a:xfrm>
          <a:prstGeom prst="roundRect">
            <a:avLst/>
          </a:prstGeom>
          <a:solidFill>
            <a:srgbClr val="152238"/>
          </a:solidFill>
          <a:ln w="15240">
            <a:solidFill>
              <a:srgbClr val="263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57032" y="1554480"/>
            <a:ext cx="3054096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50" b="1">
                <a:solidFill>
                  <a:srgbClr val="0EA5E9"/>
                </a:solidFill>
              </a:defRPr>
            </a:pPr>
            <a:r>
              <a:t>ERD Basis Data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302752" y="2011680"/>
            <a:ext cx="2962656" cy="32918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erd_databas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02752" y="2813243"/>
            <a:ext cx="2962656" cy="1688713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302752" y="5394959"/>
            <a:ext cx="2962656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50">
                <a:solidFill>
                  <a:srgbClr val="F8FAFC"/>
                </a:solidFill>
              </a:defRPr>
            </a:pPr>
            <a:r>
              <a:t>Relasi 1:N Supplier, Obat, Pembelian &amp; Batch Detail.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2DD4BF"/>
                </a:solidFill>
              </a:defRPr>
            </a:pPr>
            <a:r>
              <a:t>APOTEKSIM  |  ANTARMUKA APLIKASI (DEMO PRODUK - BAGIAN 1)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72865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100" b="1">
                <a:solidFill>
                  <a:srgbClr val="F8FAFC"/>
                </a:solidFill>
              </a:defRPr>
            </a:pPr>
            <a:r>
              <a:t>Demonstrasi UI: Kasir POS &amp; Katalog Obat Reaktif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34440"/>
            <a:ext cx="10728655" cy="18288"/>
          </a:xfrm>
          <a:prstGeom prst="rect">
            <a:avLst/>
          </a:prstGeom>
          <a:solidFill>
            <a:srgbClr val="26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492240"/>
            <a:ext cx="10728655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</a:defRPr>
            </a:pPr>
            <a:r>
              <a:t>Universitas Dr. Soetomo Surabaya • Teknik Informatika • Kelompok 4 (2026)</a:t>
            </a:r>
          </a:p>
          <a:p>
            <a:pPr algn="r">
              <a:defRPr sz="900">
                <a:solidFill>
                  <a:srgbClr val="2DD4BF"/>
                </a:solidFill>
              </a:defRPr>
            </a:pPr>
            <a:r>
              <a:t>Slide 6 / 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417320"/>
            <a:ext cx="5166360" cy="4892040"/>
          </a:xfrm>
          <a:prstGeom prst="roundRect">
            <a:avLst/>
          </a:prstGeom>
          <a:solidFill>
            <a:srgbClr val="152238"/>
          </a:solidFill>
          <a:ln w="15240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554480"/>
            <a:ext cx="48006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50" b="1">
                <a:solidFill>
                  <a:srgbClr val="0EA5E9"/>
                </a:solidFill>
              </a:defRPr>
            </a:pPr>
            <a:r>
              <a:t>🛒 Antarmuka Kasir Digital (Point of Sales)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029200"/>
            <a:ext cx="4800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300"/>
              </a:spcBef>
              <a:defRPr sz="1050">
                <a:solidFill>
                  <a:srgbClr val="F8FAFC"/>
                </a:solidFill>
              </a:defRPr>
            </a:pPr>
            <a:r>
              <a:t>• Instant Search: Pencarian obat cepat &amp; filter kategori.</a:t>
            </a:r>
          </a:p>
          <a:p>
            <a:pPr>
              <a:spcBef>
                <a:spcPts val="300"/>
              </a:spcBef>
              <a:defRPr sz="1050">
                <a:solidFill>
                  <a:srgbClr val="F8FAFC"/>
                </a:solidFill>
              </a:defRPr>
            </a:pPr>
            <a:r>
              <a:t>• Keranjang Reaktif: Perhitungan subtotal, PPN 11% &amp; kembalian.</a:t>
            </a:r>
          </a:p>
          <a:p>
            <a:pPr>
              <a:spcBef>
                <a:spcPts val="300"/>
              </a:spcBef>
              <a:defRPr sz="1050">
                <a:solidFill>
                  <a:srgbClr val="F8FAFC"/>
                </a:solidFill>
              </a:defRPr>
            </a:pPr>
            <a:r>
              <a:t>• Skrining Resep: Form data Dokter &amp; SIP untuk obat keras.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3815" y="1417320"/>
            <a:ext cx="5166360" cy="4892040"/>
          </a:xfrm>
          <a:prstGeom prst="roundRect">
            <a:avLst/>
          </a:prstGeom>
          <a:solidFill>
            <a:srgbClr val="152238"/>
          </a:solidFill>
          <a:ln w="15240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76695" y="1554480"/>
            <a:ext cx="48006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50" b="1">
                <a:solidFill>
                  <a:srgbClr val="0EA5E9"/>
                </a:solidFill>
              </a:defRPr>
            </a:pPr>
            <a:r>
              <a:t>💊 Katalog Obat &amp; Status FEFO Real-Time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76695" y="5029200"/>
            <a:ext cx="4800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300"/>
              </a:spcBef>
              <a:defRPr sz="1050">
                <a:solidFill>
                  <a:srgbClr val="F8FAFC"/>
                </a:solidFill>
              </a:defRPr>
            </a:pPr>
            <a:r>
              <a:t>• Visual Cards: Menampilkan gambar, kategori &amp; stok obat.</a:t>
            </a:r>
          </a:p>
          <a:p>
            <a:pPr>
              <a:spcBef>
                <a:spcPts val="300"/>
              </a:spcBef>
              <a:defRPr sz="1050">
                <a:solidFill>
                  <a:srgbClr val="F8FAFC"/>
                </a:solidFill>
              </a:defRPr>
            </a:pPr>
            <a:r>
              <a:t>• Indicator FEFO: Menampilkan sisa batch aktif &amp; ED terdekat.</a:t>
            </a:r>
          </a:p>
          <a:p>
            <a:pPr>
              <a:spcBef>
                <a:spcPts val="300"/>
              </a:spcBef>
              <a:defRPr sz="1050">
                <a:solidFill>
                  <a:srgbClr val="F8FAFC"/>
                </a:solidFill>
              </a:defRPr>
            </a:pPr>
            <a:r>
              <a:t>• Realtime Sync: Auto-update stok saat terjadi checkout.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2DD4BF"/>
                </a:solidFill>
              </a:defRPr>
            </a:pPr>
            <a:r>
              <a:t>APOTEKSIM  |  ANTARMUKA APLIKASI (DEMO PRODUK - BAGIAN 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72865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100" b="1">
                <a:solidFill>
                  <a:srgbClr val="F8FAFC"/>
                </a:solidFill>
              </a:defRPr>
            </a:pPr>
            <a:r>
              <a:t>Demonstrasi UI: Dasbor Admin &amp; Pengadaan Restock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34440"/>
            <a:ext cx="10728655" cy="18288"/>
          </a:xfrm>
          <a:prstGeom prst="rect">
            <a:avLst/>
          </a:prstGeom>
          <a:solidFill>
            <a:srgbClr val="26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492240"/>
            <a:ext cx="10728655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</a:defRPr>
            </a:pPr>
            <a:r>
              <a:t>Universitas Dr. Soetomo Surabaya • Teknik Informatika • Kelompok 4 (2026)</a:t>
            </a:r>
          </a:p>
          <a:p>
            <a:pPr algn="r">
              <a:defRPr sz="900">
                <a:solidFill>
                  <a:srgbClr val="2DD4BF"/>
                </a:solidFill>
              </a:defRPr>
            </a:pPr>
            <a:r>
              <a:t>Slide 7 / 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417320"/>
            <a:ext cx="5166360" cy="4892040"/>
          </a:xfrm>
          <a:prstGeom prst="roundRect">
            <a:avLst/>
          </a:prstGeom>
          <a:solidFill>
            <a:srgbClr val="152238"/>
          </a:solidFill>
          <a:ln w="15240"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554480"/>
            <a:ext cx="48006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50" b="1">
                <a:solidFill>
                  <a:srgbClr val="0EA5E9"/>
                </a:solidFill>
              </a:defRPr>
            </a:pPr>
            <a:r>
              <a:t>📊 Dasbor Executive &amp; Alert Low-Stock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029200"/>
            <a:ext cx="4800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300"/>
              </a:spcBef>
              <a:defRPr sz="1050">
                <a:solidFill>
                  <a:srgbClr val="F8FAFC"/>
                </a:solidFill>
              </a:defRPr>
            </a:pPr>
            <a:r>
              <a:t>• Ringkasan Omset: Grafik penjualan harian &amp; statistik total.</a:t>
            </a:r>
          </a:p>
          <a:p>
            <a:pPr>
              <a:spcBef>
                <a:spcPts val="300"/>
              </a:spcBef>
              <a:defRPr sz="1050">
                <a:solidFill>
                  <a:srgbClr val="F8FAFC"/>
                </a:solidFill>
              </a:defRPr>
            </a:pPr>
            <a:r>
              <a:t>• Alert Berkedip Merah: Peringatan otomatis obat stok minimum.</a:t>
            </a:r>
          </a:p>
          <a:p>
            <a:pPr>
              <a:spcBef>
                <a:spcPts val="300"/>
              </a:spcBef>
              <a:defRPr sz="1050">
                <a:solidFill>
                  <a:srgbClr val="F8FAFC"/>
                </a:solidFill>
              </a:defRPr>
            </a:pPr>
            <a:r>
              <a:t>• Quick Actions: Akses cepat ke tambah obat &amp; supplier.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3815" y="1417320"/>
            <a:ext cx="5166360" cy="4892040"/>
          </a:xfrm>
          <a:prstGeom prst="roundRect">
            <a:avLst/>
          </a:prstGeom>
          <a:solidFill>
            <a:srgbClr val="152238"/>
          </a:solidFill>
          <a:ln w="15240"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76695" y="1554480"/>
            <a:ext cx="48006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50" b="1">
                <a:solidFill>
                  <a:srgbClr val="0EA5E9"/>
                </a:solidFill>
              </a:defRPr>
            </a:pPr>
            <a:r>
              <a:t>📦 Manajemen Restock &amp; Batch Expired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76695" y="5029200"/>
            <a:ext cx="4800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300"/>
              </a:spcBef>
              <a:defRPr sz="1050">
                <a:solidFill>
                  <a:srgbClr val="F8FAFC"/>
                </a:solidFill>
              </a:defRPr>
            </a:pPr>
            <a:r>
              <a:t>• Form Pengadaan: Pencatatan faktur masuk dari Supplier.</a:t>
            </a:r>
          </a:p>
          <a:p>
            <a:pPr>
              <a:spcBef>
                <a:spcPts val="300"/>
              </a:spcBef>
              <a:defRPr sz="1050">
                <a:solidFill>
                  <a:srgbClr val="F8FAFC"/>
                </a:solidFill>
              </a:defRPr>
            </a:pPr>
            <a:r>
              <a:t>• Multi-Batch Input: Input Nomor Batch, ED &amp; Harga Beli.</a:t>
            </a:r>
          </a:p>
          <a:p>
            <a:pPr>
              <a:spcBef>
                <a:spcPts val="300"/>
              </a:spcBef>
              <a:defRPr sz="1050">
                <a:solidFill>
                  <a:srgbClr val="F8FAFC"/>
                </a:solidFill>
              </a:defRPr>
            </a:pPr>
            <a:r>
              <a:t>• Auto Consolidation: Memperbarui total stok obat otomatis.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2DD4BF"/>
                </a:solidFill>
              </a:defRPr>
            </a:pPr>
            <a:r>
              <a:t>APOTEKSIM  |  PENGUJIAN &amp; PENUTUP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72865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100" b="1">
                <a:solidFill>
                  <a:srgbClr val="F8FAFC"/>
                </a:solidFill>
              </a:defRPr>
            </a:pPr>
            <a:r>
              <a:t>Matriks Pengujian UAT (Black-Box) &amp; Kesimpulan Utama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34440"/>
            <a:ext cx="10728655" cy="18288"/>
          </a:xfrm>
          <a:prstGeom prst="rect">
            <a:avLst/>
          </a:prstGeom>
          <a:solidFill>
            <a:srgbClr val="26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492240"/>
            <a:ext cx="10728655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</a:defRPr>
            </a:pPr>
            <a:r>
              <a:t>Universitas Dr. Soetomo Surabaya • Teknik Informatika • Kelompok 4 (2026)</a:t>
            </a:r>
          </a:p>
          <a:p>
            <a:pPr algn="r">
              <a:defRPr sz="900">
                <a:solidFill>
                  <a:srgbClr val="2DD4BF"/>
                </a:solidFill>
              </a:defRPr>
            </a:pPr>
            <a:r>
              <a:t>Slide 8 / 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417320"/>
            <a:ext cx="5943600" cy="4892040"/>
          </a:xfrm>
          <a:prstGeom prst="roundRect">
            <a:avLst/>
          </a:prstGeom>
          <a:solidFill>
            <a:srgbClr val="152238"/>
          </a:solidFill>
          <a:ln w="15240">
            <a:solidFill>
              <a:srgbClr val="263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600200"/>
            <a:ext cx="5577840" cy="4526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EA5E9"/>
                </a:solidFill>
              </a:defRPr>
            </a:pPr>
            <a:r>
              <a:t>🧪 Matriks Hasil Pengujian (Black-Box UAT)</a:t>
            </a:r>
          </a:p>
          <a:p>
            <a:pPr>
              <a:spcBef>
                <a:spcPts val="600"/>
              </a:spcBef>
              <a:defRPr sz="1050">
                <a:solidFill>
                  <a:srgbClr val="F8FAFC"/>
                </a:solidFill>
              </a:defRPr>
            </a:pPr>
            <a:r>
              <a:t>• TC-01 [Autentikasi &amp; RBAC]: Kasir dilarang ke Admin → PASSED 🟢</a:t>
            </a:r>
          </a:p>
          <a:p>
            <a:pPr>
              <a:spcBef>
                <a:spcPts val="600"/>
              </a:spcBef>
              <a:defRPr sz="1050">
                <a:solidFill>
                  <a:srgbClr val="F8FAFC"/>
                </a:solidFill>
              </a:defRPr>
            </a:pPr>
            <a:r>
              <a:t>• TC-02 [Validasi Master Obat]: Harga &lt;= 0 ditolak sistem → PASSED 🟢</a:t>
            </a:r>
          </a:p>
          <a:p>
            <a:pPr>
              <a:spcBef>
                <a:spcPts val="600"/>
              </a:spcBef>
              <a:defRPr sz="1050">
                <a:solidFill>
                  <a:srgbClr val="F8FAFC"/>
                </a:solidFill>
              </a:defRPr>
            </a:pPr>
            <a:r>
              <a:t>• TC-03 [Transaksi Kasir POS]: Struk &amp; stok terpotong &lt;2s → PASSED 🟢</a:t>
            </a:r>
          </a:p>
          <a:p>
            <a:pPr>
              <a:spcBef>
                <a:spcPts val="600"/>
              </a:spcBef>
              <a:defRPr sz="1050">
                <a:solidFill>
                  <a:srgbClr val="F8FAFC"/>
                </a:solidFill>
              </a:defRPr>
            </a:pPr>
            <a:r>
              <a:t>• TC-04 [Skrining Resep Dokter]: Data Dokter/SIP wajib diisi → PASSED 🟢</a:t>
            </a:r>
          </a:p>
          <a:p>
            <a:pPr>
              <a:spcBef>
                <a:spcPts val="600"/>
              </a:spcBef>
              <a:defRPr sz="1050">
                <a:solidFill>
                  <a:srgbClr val="F8FAFC"/>
                </a:solidFill>
              </a:defRPr>
            </a:pPr>
            <a:r>
              <a:t>• TC-05 [Otomatisasi Antrean FEFO]: Batch ED terdekat terpotong → PASSED 🟢</a:t>
            </a:r>
          </a:p>
          <a:p>
            <a:pPr>
              <a:spcBef>
                <a:spcPts val="600"/>
              </a:spcBef>
              <a:defRPr sz="1050">
                <a:solidFill>
                  <a:srgbClr val="F8FAFC"/>
                </a:solidFill>
              </a:defRPr>
            </a:pPr>
            <a:r>
              <a:t>• TC-06 [Notifikasi Low Stock]: Indikator merah saat stok min → PASSED 🟢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88175" y="1417320"/>
            <a:ext cx="4572000" cy="4892040"/>
          </a:xfrm>
          <a:prstGeom prst="roundRect">
            <a:avLst/>
          </a:prstGeom>
          <a:solidFill>
            <a:srgbClr val="1E2943"/>
          </a:solidFill>
          <a:ln w="1524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086600" y="1600200"/>
            <a:ext cx="4160520" cy="4526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34D399"/>
                </a:solidFill>
              </a:defRPr>
            </a:pPr>
            <a:r>
              <a:t>🏁 Kesimpulan Utama Proyek</a:t>
            </a:r>
          </a:p>
          <a:p>
            <a:pPr>
              <a:spcBef>
                <a:spcPts val="1000"/>
              </a:spcBef>
              <a:defRPr sz="1050">
                <a:solidFill>
                  <a:srgbClr val="F8FAFC"/>
                </a:solidFill>
              </a:defRPr>
            </a:pPr>
            <a:r>
              <a:t>🚀 Efisiensi Transaksi Kasir: Kecepatan transaksi POS &lt;2 detik menekan antrean fisik konsumen.</a:t>
            </a:r>
          </a:p>
          <a:p>
            <a:pPr>
              <a:spcBef>
                <a:spcPts val="1000"/>
              </a:spcBef>
              <a:defRPr sz="1050">
                <a:solidFill>
                  <a:srgbClr val="F8FAFC"/>
                </a:solidFill>
              </a:defRPr>
            </a:pPr>
            <a:r>
              <a:t>📦 Eliminasi Kerugian Expired: Metode FEFO terotomatisasi penuh menjamin rotasi obat yang aman.</a:t>
            </a:r>
          </a:p>
          <a:p>
            <a:pPr>
              <a:spcBef>
                <a:spcPts val="1000"/>
              </a:spcBef>
              <a:defRPr sz="1050">
                <a:solidFill>
                  <a:srgbClr val="F8FAFC"/>
                </a:solidFill>
              </a:defRPr>
            </a:pPr>
            <a:r>
              <a:t>🔒 Keamanan Cloud &amp; RLS: PostgreSQL RLS di Supabase terbukti andal mengunci akses dari manipulasi client.</a:t>
            </a:r>
          </a:p>
          <a:p>
            <a:pPr>
              <a:spcBef>
                <a:spcPts val="1000"/>
              </a:spcBef>
              <a:defRPr sz="1050">
                <a:solidFill>
                  <a:srgbClr val="F8FAFC"/>
                </a:solidFill>
              </a:defRPr>
            </a:pPr>
            <a:r>
              <a:t>📊 Data Real-Time: Integrasi WebSockets memastikan sinkronisasi stok instan antar browser kasir.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